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Merchant churn rate (%)</c:v>
                </c:pt>
              </c:strCache>
            </c:strRef>
          </c:tx>
          <c:spPr>
            <a:solidFill>
              <a:srgbClr val="2251FF"/>
            </a:solidFill>
          </c:spPr>
          <c:cat>
            <c:strRef>
              <c:f>Sheet1!$A$2:$A$4</c:f>
              <c:strCache>
                <c:ptCount val="3"/>
                <c:pt idx="0">
                  <c:v>Enterprise</c:v>
                </c:pt>
                <c:pt idx="1">
                  <c:v>Mid-market</c:v>
                </c:pt>
                <c:pt idx="2">
                  <c:v>SMB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3.16</c:v>
                </c:pt>
                <c:pt idx="1">
                  <c:v>7.41</c:v>
                </c:pt>
                <c:pt idx="2">
                  <c:v>21.67</c:v>
                </c:pt>
              </c:numCache>
            </c:numRef>
          </c:val>
        </c:ser>
        <c:dLbls>
          <c:numFmt formatCode="#,##0.0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051C2C"/>
          </a:solidFill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Average latency (ms)</c:v>
                </c:pt>
              </c:strCache>
            </c:strRef>
          </c:tx>
          <c:spPr>
            <a:solidFill>
              <a:srgbClr val="2251FF"/>
            </a:solidFill>
          </c:spPr>
          <c:cat>
            <c:strRef>
              <c:f>Sheet1!$A$2:$A$13</c:f>
              <c:strCache>
                <c:ptCount val="12"/>
                <c:pt idx="0">
                  <c:v>BoB</c:v>
                </c:pt>
                <c:pt idx="1">
                  <c:v>Union</c:v>
                </c:pt>
                <c:pt idx="2">
                  <c:v>PNB</c:v>
                </c:pt>
                <c:pt idx="3">
                  <c:v>SBI</c:v>
                </c:pt>
                <c:pt idx="4">
                  <c:v>Canara</c:v>
                </c:pt>
                <c:pt idx="5">
                  <c:v>Kotak</c:v>
                </c:pt>
                <c:pt idx="6">
                  <c:v>Yes</c:v>
                </c:pt>
                <c:pt idx="7">
                  <c:v>HDFC</c:v>
                </c:pt>
                <c:pt idx="8">
                  <c:v>Federal</c:v>
                </c:pt>
                <c:pt idx="9">
                  <c:v>ICICI</c:v>
                </c:pt>
                <c:pt idx="10">
                  <c:v>Axis</c:v>
                </c:pt>
                <c:pt idx="11">
                  <c:v>IndusInd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1442.5</c:v>
                </c:pt>
                <c:pt idx="1">
                  <c:v>1440.1</c:v>
                </c:pt>
                <c:pt idx="2">
                  <c:v>1440.1</c:v>
                </c:pt>
                <c:pt idx="3">
                  <c:v>1425.8</c:v>
                </c:pt>
                <c:pt idx="4">
                  <c:v>1416.7</c:v>
                </c:pt>
                <c:pt idx="5">
                  <c:v>1328.6</c:v>
                </c:pt>
                <c:pt idx="6">
                  <c:v>1322.0</c:v>
                </c:pt>
                <c:pt idx="7">
                  <c:v>1321.7</c:v>
                </c:pt>
                <c:pt idx="8">
                  <c:v>1320.6</c:v>
                </c:pt>
                <c:pt idx="9">
                  <c:v>1319.0</c:v>
                </c:pt>
                <c:pt idx="10">
                  <c:v>1317.1</c:v>
                </c:pt>
                <c:pt idx="11">
                  <c:v>1310.8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051C2C"/>
          </a:solidFill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Failed attempts</c:v>
                </c:pt>
              </c:strCache>
            </c:strRef>
          </c:tx>
          <c:spPr>
            <a:solidFill>
              <a:srgbClr val="2251FF"/>
            </a:solidFill>
          </c:spPr>
          <c:cat>
            <c:strRef>
              <c:f>Sheet1!$A$2:$A$6</c:f>
              <c:strCache>
                <c:ptCount val="5"/>
                <c:pt idx="0">
                  <c:v>Bank timeout</c:v>
                </c:pt>
                <c:pt idx="1">
                  <c:v>Auth failed</c:v>
                </c:pt>
                <c:pt idx="2">
                  <c:v>Insufficient funds</c:v>
                </c:pt>
                <c:pt idx="3">
                  <c:v>NPCI degraded</c:v>
                </c:pt>
                <c:pt idx="4">
                  <c:v>Switch unavailable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39178.0</c:v>
                </c:pt>
                <c:pt idx="1">
                  <c:v>28445.0</c:v>
                </c:pt>
                <c:pt idx="2">
                  <c:v>15785.0</c:v>
                </c:pt>
                <c:pt idx="3">
                  <c:v>1516.0</c:v>
                </c:pt>
                <c:pt idx="4">
                  <c:v>1513.0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051C2C"/>
          </a:solidFill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SLA breach rate (%)</c:v>
                </c:pt>
              </c:strCache>
            </c:strRef>
          </c:tx>
          <c:spPr>
            <a:solidFill>
              <a:srgbClr val="2251FF"/>
            </a:solidFill>
          </c:spPr>
          <c:cat>
            <c:strRef>
              <c:f>Sheet1!$A$2:$A$5</c:f>
              <c:strCache>
                <c:ptCount val="4"/>
                <c:pt idx="0">
                  <c:v>T+0</c:v>
                </c:pt>
                <c:pt idx="1">
                  <c:v>T+1</c:v>
                </c:pt>
                <c:pt idx="2">
                  <c:v>T+2</c:v>
                </c:pt>
                <c:pt idx="3">
                  <c:v>T+3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12.22</c:v>
                </c:pt>
                <c:pt idx="1">
                  <c:v>11.96</c:v>
                </c:pt>
                <c:pt idx="2">
                  <c:v>49.56</c:v>
                </c:pt>
                <c:pt idx="3">
                  <c:v>51.74</c:v>
                </c:pt>
              </c:numCache>
            </c:numRef>
          </c:val>
        </c:ser>
        <c:dLbls>
          <c:numFmt formatCode="#,##0.0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051C2C"/>
          </a:solidFill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SMB churn rate (%)</c:v>
                </c:pt>
              </c:strCache>
            </c:strRef>
          </c:tx>
          <c:spPr>
            <a:solidFill>
              <a:srgbClr val="2251FF"/>
            </a:solidFill>
          </c:spPr>
          <c:cat>
            <c:strRef>
              <c:f>Sheet1!$A$2:$A$5</c:f>
              <c:strCache>
                <c:ptCount val="4"/>
                <c:pt idx="0">
                  <c:v>0% of batches breaching</c:v>
                </c:pt>
                <c:pt idx="1">
                  <c:v>0–10%</c:v>
                </c:pt>
                <c:pt idx="2">
                  <c:v>10–25%</c:v>
                </c:pt>
                <c:pt idx="3">
                  <c:v>&gt;25%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0.0</c:v>
                </c:pt>
                <c:pt idx="1">
                  <c:v>10.12</c:v>
                </c:pt>
                <c:pt idx="2">
                  <c:v>8.76</c:v>
                </c:pt>
                <c:pt idx="3">
                  <c:v>32.66</c:v>
                </c:pt>
              </c:numCache>
            </c:numRef>
          </c:val>
        </c:ser>
        <c:dLbls>
          <c:numFmt formatCode="#,##0.0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051C2C"/>
          </a:solidFill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Transaction success rate (%)</c:v>
                </c:pt>
              </c:strCache>
            </c:strRef>
          </c:tx>
          <c:spPr>
            <a:solidFill>
              <a:srgbClr val="2251FF"/>
            </a:solidFill>
          </c:spPr>
          <c:cat>
            <c:strRef>
              <c:f>Sheet1!$A$2:$A$3</c:f>
              <c:strCache>
                <c:ptCount val="2"/>
                <c:pt idx="0">
                  <c:v>Standard route (n=264,736)</c:v>
                </c:pt>
                <c:pt idx="1">
                  <c:v>Dynamic SLA route (n=265,264)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79.4</c:v>
                </c:pt>
                <c:pt idx="1">
                  <c:v>87.97</c:v>
                </c:pt>
              </c:numCache>
            </c:numRef>
          </c:val>
        </c:ser>
        <c:dLbls>
          <c:numFmt formatCode="#,##0.0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051C2C"/>
          </a:solidFill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Credit card</c:v>
                </c:pt>
              </c:strCache>
            </c:strRef>
          </c:tx>
          <c:spPr>
            <a:solidFill>
              <a:srgbClr val="2251FF"/>
            </a:solidFill>
          </c:spPr>
          <c:cat>
            <c:strRef>
              <c:f>Sheet1!$A$2:$A$4</c:f>
              <c:strCache>
                <c:ptCount val="3"/>
                <c:pt idx="0">
                  <c:v>Enterprise</c:v>
                </c:pt>
                <c:pt idx="1">
                  <c:v>Mid-market</c:v>
                </c:pt>
                <c:pt idx="2">
                  <c:v>SMB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206.5</c:v>
                </c:pt>
                <c:pt idx="1">
                  <c:v>695.2</c:v>
                </c:pt>
                <c:pt idx="2">
                  <c:v>1628.6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Debit card</c:v>
                </c:pt>
              </c:strCache>
            </c:strRef>
          </c:tx>
          <c:spPr>
            <a:solidFill>
              <a:srgbClr val="00A9F4"/>
            </a:solidFill>
          </c:spPr>
          <c:cat>
            <c:strRef>
              <c:f>Sheet1!$A$2:$A$4</c:f>
              <c:strCache>
                <c:ptCount val="3"/>
                <c:pt idx="0">
                  <c:v>Enterprise</c:v>
                </c:pt>
                <c:pt idx="1">
                  <c:v>Mid-market</c:v>
                </c:pt>
                <c:pt idx="2">
                  <c:v>SMB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71.6</c:v>
                </c:pt>
                <c:pt idx="1">
                  <c:v>234.8</c:v>
                </c:pt>
                <c:pt idx="2">
                  <c:v>544.5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NetBanking</c:v>
                </c:pt>
              </c:strCache>
            </c:strRef>
          </c:tx>
          <c:spPr>
            <a:solidFill>
              <a:srgbClr val="93A9BF"/>
            </a:solidFill>
          </c:spPr>
          <c:cat>
            <c:strRef>
              <c:f>Sheet1!$A$2:$A$4</c:f>
              <c:strCache>
                <c:ptCount val="3"/>
                <c:pt idx="0">
                  <c:v>Enterprise</c:v>
                </c:pt>
                <c:pt idx="1">
                  <c:v>Mid-market</c:v>
                </c:pt>
                <c:pt idx="2">
                  <c:v>SMB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65.8</c:v>
                </c:pt>
                <c:pt idx="1">
                  <c:v>213.9</c:v>
                </c:pt>
                <c:pt idx="2">
                  <c:v>498.7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Wallet</c:v>
                </c:pt>
              </c:strCache>
            </c:strRef>
          </c:tx>
          <c:spPr>
            <a:solidFill>
              <a:srgbClr val="051C2C"/>
            </a:solidFill>
          </c:spPr>
          <c:cat>
            <c:strRef>
              <c:f>Sheet1!$A$2:$A$4</c:f>
              <c:strCache>
                <c:ptCount val="3"/>
                <c:pt idx="0">
                  <c:v>Enterprise</c:v>
                </c:pt>
                <c:pt idx="1">
                  <c:v>Mid-market</c:v>
                </c:pt>
                <c:pt idx="2">
                  <c:v>SMB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28.4</c:v>
                </c:pt>
                <c:pt idx="1">
                  <c:v>88.6</c:v>
                </c:pt>
                <c:pt idx="2">
                  <c:v>205.9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UPI (0% MDR)</c:v>
                </c:pt>
              </c:strCache>
            </c:strRef>
          </c:tx>
          <c:spPr>
            <a:solidFill>
              <a:srgbClr val="2251FF"/>
            </a:solidFill>
          </c:spPr>
          <c:cat>
            <c:strRef>
              <c:f>Sheet1!$A$2:$A$4</c:f>
              <c:strCache>
                <c:ptCount val="3"/>
                <c:pt idx="0">
                  <c:v>Enterprise</c:v>
                </c:pt>
                <c:pt idx="1">
                  <c:v>Mid-market</c:v>
                </c:pt>
                <c:pt idx="2">
                  <c:v>SMB</c:v>
                </c:pt>
              </c:strCache>
            </c:strRef>
          </c:cat>
          <c:val>
            <c:numRef>
              <c:f>Sheet1!$F$2:$F$4</c:f>
              <c:numCache>
                <c:formatCode>General</c:formatCode>
                <c:ptCount val="3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solidFill>
            <a:srgbClr val="051C2C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Capstone advisory deck. All figures derive from payments_analytics.db (530,000 transactions, 125,000 settlement batches, 2023-07 to 2024-12) and are reproducible via the executed SOLUTION notebook.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 first. The three headline numbers: +8.57pp lift (verified against benchmark), ₹51.6M at stake, ₹11.6M protected under conservative assumptions.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Situation slide: establishes where the pain sits (SMB) and why it is financially material (65% of MDR).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Banks sorted by average latency; the PSU block (BoB, Union, PNB, SBI, Canara) tops the table. Best: IndusInd 1,311 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Infrastructure share is the routing engine's addressable market: ~49% of failures.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4x structural gap between short and long cycles is the single most actionable settlement finding.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Multivariate diagnostic: breach-bucket x tier. SMB 0-10% bucket is the baseline (10.12%). Enterprise shows no cliff (no merchants in &gt;25% bucket).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engine is proven; the ask is completing the rollout, not inventing capability.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Stacked bars show potential MDR by tier and channel; UPI contributes zero — the white space is monetization headroom, not demand.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Top-3 starred for the deck. Every impact assumes no credit for replacement acquisition (conservative).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chart" Target="../charts/char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  <p:sp>
        <p:nvSpPr>
          <p:cNvPr id="4" name="decor-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or-2"/>
          <p:cNvSpPr/>
          <p:nvPr/>
        </p:nvSpPr>
        <p:spPr>
          <a:xfrm>
            <a:off x="0" y="5806440"/>
            <a:ext cx="12191695" cy="10515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ction-title"/>
          <p:cNvSpPr txBox="1"/>
          <p:nvPr/>
        </p:nvSpPr>
        <p:spPr>
          <a:xfrm>
            <a:off x="566928" y="2286000"/>
            <a:ext cx="11057839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051C2C"/>
                </a:solidFill>
                <a:latin typeface="Georgia"/>
              </a:rPr>
              <a:t>Digital Payments Settlement Latency &amp; Merchant Churn Analytics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  <p:sp>
        <p:nvSpPr>
          <p:cNvPr id="4" name="kicker"/>
          <p:cNvSpPr txBox="1"/>
          <p:nvPr/>
        </p:nvSpPr>
        <p:spPr>
          <a:xfrm>
            <a:off x="566928" y="310896"/>
            <a:ext cx="110578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2251FF"/>
                </a:solidFill>
                <a:latin typeface="Calibri"/>
              </a:rPr>
              <a:t>EXECUTIVE SUMMARY</a:t>
            </a:r>
          </a:p>
        </p:txBody>
      </p:sp>
      <p:sp>
        <p:nvSpPr>
          <p:cNvPr id="5" name="action-title"/>
          <p:cNvSpPr txBox="1"/>
          <p:nvPr/>
        </p:nvSpPr>
        <p:spPr>
          <a:xfrm>
            <a:off x="566928" y="566928"/>
            <a:ext cx="1105783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051C2C"/>
                </a:solidFill>
                <a:latin typeface="Georgia"/>
              </a:rPr>
              <a:t>Fix breach-exposed SMB settlement and finish the smart-routing rollout to protect ₹11.6M GMV and ₹151K MDR a year</a:t>
            </a:r>
          </a:p>
        </p:txBody>
      </p:sp>
      <p:sp>
        <p:nvSpPr>
          <p:cNvPr id="6" name="title-rule"/>
          <p:cNvSpPr/>
          <p:nvPr/>
        </p:nvSpPr>
        <p:spPr>
          <a:xfrm>
            <a:off x="566928" y="1682495"/>
            <a:ext cx="2011680" cy="25603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ource-line"/>
          <p:cNvSpPr txBox="1"/>
          <p:nvPr/>
        </p:nvSpPr>
        <p:spPr>
          <a:xfrm>
            <a:off x="566928" y="6419088"/>
            <a:ext cx="1050919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5B6B7B"/>
                </a:solidFill>
                <a:latin typeface="Calibri"/>
              </a:rPr>
              <a:t>Source: payments_analytics.db — 530,000 txns, 125,000 settlements, 2023-07→2024-12 (Group 03 analysis).</a:t>
            </a:r>
          </a:p>
        </p:txBody>
      </p:sp>
      <p:sp>
        <p:nvSpPr>
          <p:cNvPr id="8" name="page-num"/>
          <p:cNvSpPr txBox="1"/>
          <p:nvPr/>
        </p:nvSpPr>
        <p:spPr>
          <a:xfrm>
            <a:off x="11076127" y="641908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Calibri"/>
              </a:rPr>
              <a:t>2</a:t>
            </a:r>
          </a:p>
        </p:txBody>
      </p:sp>
      <p:sp>
        <p:nvSpPr>
          <p:cNvPr id="9" name="body-1"/>
          <p:cNvSpPr txBox="1"/>
          <p:nvPr/>
        </p:nvSpPr>
        <p:spPr>
          <a:xfrm>
            <a:off x="566928" y="1956816"/>
            <a:ext cx="11057839" cy="430682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00">
                <a:solidFill>
                  <a:srgbClr val="2251FF"/>
                </a:solidFill>
                <a:latin typeface="Calibri"/>
              </a:rPr>
              <a:t>–  </a:t>
            </a:r>
            <a:r>
              <a:rPr b="1" sz="1400">
                <a:solidFill>
                  <a:srgbClr val="051C2C"/>
                </a:solidFill>
                <a:latin typeface="Calibri"/>
              </a:rPr>
              <a:t>Two failure modes, one lever:  </a:t>
            </a:r>
            <a:r>
              <a:rPr sz="1400">
                <a:solidFill>
                  <a:srgbClr val="051C2C"/>
                </a:solidFill>
                <a:latin typeface="Calibri"/>
              </a:rPr>
              <a:t>PSU switch latency and T+2/T+3 settlement breaches drive SMB churn — and SMB pays 65% of platform MDR.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00">
                <a:solidFill>
                  <a:srgbClr val="2251FF"/>
                </a:solidFill>
                <a:latin typeface="Calibri"/>
              </a:rPr>
              <a:t>–  </a:t>
            </a:r>
            <a:r>
              <a:rPr b="1" sz="1400">
                <a:solidFill>
                  <a:srgbClr val="051C2C"/>
                </a:solidFill>
                <a:latin typeface="Calibri"/>
              </a:rPr>
              <a:t>The engine works:  </a:t>
            </a:r>
            <a:r>
              <a:rPr sz="1400">
                <a:solidFill>
                  <a:srgbClr val="051C2C"/>
                </a:solidFill>
                <a:latin typeface="Calibri"/>
              </a:rPr>
              <a:t>Dynamic SLA routing already delivers +8.57 pp success (79.4% → 88.0%, benchmark band 8.30–8.70 ✓) and cuts latency 39% (1,700 → 1,035 ms).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00">
                <a:solidFill>
                  <a:srgbClr val="2251FF"/>
                </a:solidFill>
                <a:latin typeface="Calibri"/>
              </a:rPr>
              <a:t>–  </a:t>
            </a:r>
            <a:r>
              <a:rPr b="1" sz="1400">
                <a:solidFill>
                  <a:srgbClr val="051C2C"/>
                </a:solidFill>
                <a:latin typeface="Calibri"/>
              </a:rPr>
              <a:t>The prize:  </a:t>
            </a:r>
            <a:r>
              <a:rPr sz="1400">
                <a:solidFill>
                  <a:srgbClr val="051C2C"/>
                </a:solidFill>
                <a:latin typeface="Calibri"/>
              </a:rPr>
              <a:t>894 at-risk SMB merchants (&gt;25% of batches breaching) carry ₹51.6M annualized GMV / ₹0.67M MDR; fixing breaches protects ≈ ₹11.6M GMV / ₹151K MDR per year.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00">
                <a:solidFill>
                  <a:srgbClr val="2251FF"/>
                </a:solidFill>
                <a:latin typeface="Calibri"/>
              </a:rPr>
              <a:t>–  </a:t>
            </a:r>
            <a:r>
              <a:rPr b="1" sz="1400">
                <a:solidFill>
                  <a:srgbClr val="051C2C"/>
                </a:solidFill>
                <a:latin typeface="Calibri"/>
              </a:rPr>
              <a:t>The ask:  </a:t>
            </a:r>
            <a:r>
              <a:rPr sz="1400">
                <a:solidFill>
                  <a:srgbClr val="051C2C"/>
                </a:solidFill>
                <a:latin typeface="Calibri"/>
              </a:rPr>
              <a:t>fund the T+1 settlement guarantee for breach-exposed SMB, complete routing coverage to 100% of traffic, and stand up a save-desk at the 20–25% breach trigger.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  <p:sp>
        <p:nvSpPr>
          <p:cNvPr id="4" name="kicker"/>
          <p:cNvSpPr txBox="1"/>
          <p:nvPr/>
        </p:nvSpPr>
        <p:spPr>
          <a:xfrm>
            <a:off x="566928" y="310896"/>
            <a:ext cx="110578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2251FF"/>
                </a:solidFill>
                <a:latin typeface="Calibri"/>
              </a:rPr>
              <a:t>SITUATION</a:t>
            </a:r>
          </a:p>
        </p:txBody>
      </p:sp>
      <p:sp>
        <p:nvSpPr>
          <p:cNvPr id="5" name="action-title"/>
          <p:cNvSpPr txBox="1"/>
          <p:nvPr/>
        </p:nvSpPr>
        <p:spPr>
          <a:xfrm>
            <a:off x="566928" y="566928"/>
            <a:ext cx="1105783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051C2C"/>
                </a:solidFill>
                <a:latin typeface="Georgia"/>
              </a:rPr>
              <a:t>Churn concentrates in SMB — 21.7% vs 3.2% for enterprise — and half of SMB churners blame settlement delay</a:t>
            </a:r>
          </a:p>
        </p:txBody>
      </p:sp>
      <p:sp>
        <p:nvSpPr>
          <p:cNvPr id="6" name="title-rule"/>
          <p:cNvSpPr/>
          <p:nvPr/>
        </p:nvSpPr>
        <p:spPr>
          <a:xfrm>
            <a:off x="566928" y="1682495"/>
            <a:ext cx="2011680" cy="25603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ource-line"/>
          <p:cNvSpPr txBox="1"/>
          <p:nvPr/>
        </p:nvSpPr>
        <p:spPr>
          <a:xfrm>
            <a:off x="566928" y="6419088"/>
            <a:ext cx="1050919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5B6B7B"/>
                </a:solidFill>
                <a:latin typeface="Calibri"/>
              </a:rPr>
              <a:t>Source: dim_merchants, fact_merchant_settlements — 8,500 merchants, 18 months.</a:t>
            </a:r>
          </a:p>
        </p:txBody>
      </p:sp>
      <p:sp>
        <p:nvSpPr>
          <p:cNvPr id="8" name="page-num"/>
          <p:cNvSpPr txBox="1"/>
          <p:nvPr/>
        </p:nvSpPr>
        <p:spPr>
          <a:xfrm>
            <a:off x="11076127" y="641908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Calibri"/>
              </a:rPr>
              <a:t>3</a:t>
            </a:r>
          </a:p>
        </p:txBody>
      </p:sp>
      <p:sp>
        <p:nvSpPr>
          <p:cNvPr id="9" name="body-1"/>
          <p:cNvSpPr txBox="1"/>
          <p:nvPr/>
        </p:nvSpPr>
        <p:spPr>
          <a:xfrm>
            <a:off x="566928" y="1956816"/>
            <a:ext cx="3538508" cy="38039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00">
                <a:solidFill>
                  <a:srgbClr val="2251FF"/>
                </a:solidFill>
                <a:latin typeface="Calibri"/>
              </a:rPr>
              <a:t>–  </a:t>
            </a:r>
            <a:r>
              <a:rPr b="1" sz="1400">
                <a:solidFill>
                  <a:srgbClr val="051C2C"/>
                </a:solidFill>
                <a:latin typeface="Calibri"/>
              </a:rPr>
              <a:t>Scale:  </a:t>
            </a:r>
            <a:r>
              <a:rPr sz="1400">
                <a:solidFill>
                  <a:srgbClr val="051C2C"/>
                </a:solidFill>
                <a:latin typeface="Calibri"/>
              </a:rPr>
              <a:t>530,000 transactions across 8,500 merchants; 16.21% churn overall in 18 months.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00">
                <a:solidFill>
                  <a:srgbClr val="2251FF"/>
                </a:solidFill>
                <a:latin typeface="Calibri"/>
              </a:rPr>
              <a:t>–  </a:t>
            </a:r>
            <a:r>
              <a:rPr b="1" sz="1400">
                <a:solidFill>
                  <a:srgbClr val="051C2C"/>
                </a:solidFill>
                <a:latin typeface="Calibri"/>
              </a:rPr>
              <a:t>Churn reasons (SMB):  </a:t>
            </a:r>
            <a:r>
              <a:rPr sz="1400">
                <a:solidFill>
                  <a:srgbClr val="051C2C"/>
                </a:solidFill>
                <a:latin typeface="Calibri"/>
              </a:rPr>
              <a:t>SETTLEMENT_DELAY 581 merchants (49% of SMB churn) — ahead of high failure rate (281) and competitor switches (227).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00">
                <a:solidFill>
                  <a:srgbClr val="2251FF"/>
                </a:solidFill>
                <a:latin typeface="Calibri"/>
              </a:rPr>
              <a:t>–  </a:t>
            </a:r>
            <a:r>
              <a:rPr b="1" sz="1400">
                <a:solidFill>
                  <a:srgbClr val="051C2C"/>
                </a:solidFill>
                <a:latin typeface="Calibri"/>
              </a:rPr>
              <a:t>Why it matters:  </a:t>
            </a:r>
            <a:r>
              <a:rPr sz="1400">
                <a:solidFill>
                  <a:srgbClr val="051C2C"/>
                </a:solidFill>
                <a:latin typeface="Calibri"/>
              </a:rPr>
              <a:t>SMB delivers ₹1.85M of ₹2.83M realized MDR (65%) — SMB attrition is a direct P&amp;L event.</a:t>
            </a:r>
          </a:p>
        </p:txBody>
      </p:sp>
      <p:graphicFrame>
        <p:nvGraphicFramePr>
          <p:cNvPr id="10" name="chart-1"/>
          <p:cNvGraphicFramePr>
            <a:graphicFrameLocks noGrp="1"/>
          </p:cNvGraphicFramePr>
          <p:nvPr/>
        </p:nvGraphicFramePr>
        <p:xfrm>
          <a:off x="4547750" y="1956816"/>
          <a:ext cx="7077017" cy="3803903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body-9"/>
          <p:cNvSpPr txBox="1"/>
          <p:nvPr/>
        </p:nvSpPr>
        <p:spPr>
          <a:xfrm>
            <a:off x="4547750" y="5833871"/>
            <a:ext cx="7077017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1">
                <a:solidFill>
                  <a:srgbClr val="5B6B7B"/>
                </a:solidFill>
                <a:latin typeface="Calibri"/>
              </a:rPr>
              <a:t>Churn rate (% of merchants)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  <p:sp>
        <p:nvSpPr>
          <p:cNvPr id="4" name="kicker"/>
          <p:cNvSpPr txBox="1"/>
          <p:nvPr/>
        </p:nvSpPr>
        <p:spPr>
          <a:xfrm>
            <a:off x="566928" y="310896"/>
            <a:ext cx="110578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2251FF"/>
                </a:solidFill>
                <a:latin typeface="Calibri"/>
              </a:rPr>
              <a:t>GATEWAY DIAGNOSIS · 1</a:t>
            </a:r>
          </a:p>
        </p:txBody>
      </p:sp>
      <p:sp>
        <p:nvSpPr>
          <p:cNvPr id="5" name="action-title"/>
          <p:cNvSpPr txBox="1"/>
          <p:nvPr/>
        </p:nvSpPr>
        <p:spPr>
          <a:xfrm>
            <a:off x="566928" y="566928"/>
            <a:ext cx="1105783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051C2C"/>
                </a:solidFill>
                <a:latin typeface="Georgia"/>
              </a:rPr>
              <a:t>All five hottest switches are PSU banks running ~100 ms hotter than private peers — an addressable routing problem</a:t>
            </a:r>
          </a:p>
        </p:txBody>
      </p:sp>
      <p:sp>
        <p:nvSpPr>
          <p:cNvPr id="6" name="title-rule"/>
          <p:cNvSpPr/>
          <p:nvPr/>
        </p:nvSpPr>
        <p:spPr>
          <a:xfrm>
            <a:off x="566928" y="1682495"/>
            <a:ext cx="2011680" cy="25603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ource-line"/>
          <p:cNvSpPr txBox="1"/>
          <p:nvPr/>
        </p:nvSpPr>
        <p:spPr>
          <a:xfrm>
            <a:off x="566928" y="6419088"/>
            <a:ext cx="1050919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5B6B7B"/>
                </a:solidFill>
                <a:latin typeface="Calibri"/>
              </a:rPr>
              <a:t>Source: fact_payment_transactions × dim_issuing_banks — 530,000 attempts, 12 banks.</a:t>
            </a:r>
          </a:p>
        </p:txBody>
      </p:sp>
      <p:sp>
        <p:nvSpPr>
          <p:cNvPr id="8" name="page-num"/>
          <p:cNvSpPr txBox="1"/>
          <p:nvPr/>
        </p:nvSpPr>
        <p:spPr>
          <a:xfrm>
            <a:off x="11076127" y="641908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Calibri"/>
              </a:rPr>
              <a:t>4</a:t>
            </a:r>
          </a:p>
        </p:txBody>
      </p:sp>
      <p:sp>
        <p:nvSpPr>
          <p:cNvPr id="9" name="body-1"/>
          <p:cNvSpPr txBox="1"/>
          <p:nvPr/>
        </p:nvSpPr>
        <p:spPr>
          <a:xfrm>
            <a:off x="566928" y="1956816"/>
            <a:ext cx="3538508" cy="38039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00">
                <a:solidFill>
                  <a:srgbClr val="2251FF"/>
                </a:solidFill>
                <a:latin typeface="Calibri"/>
              </a:rPr>
              <a:t>–  </a:t>
            </a:r>
            <a:r>
              <a:rPr b="1" sz="1400">
                <a:solidFill>
                  <a:srgbClr val="051C2C"/>
                </a:solidFill>
                <a:latin typeface="Calibri"/>
              </a:rPr>
              <a:t>Tier gap:  </a:t>
            </a:r>
            <a:r>
              <a:rPr sz="1400">
                <a:solidFill>
                  <a:srgbClr val="051C2C"/>
                </a:solidFill>
                <a:latin typeface="Calibri"/>
              </a:rPr>
              <a:t>PSU banks average 1,433 ms vs 1,322 ms for Tier-1 private (+8%); p95 spans ~7.0 s (PSU) vs ~4.1 s (private); spike share (≥10 s) 1.92% vs 1.47%.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00">
                <a:solidFill>
                  <a:srgbClr val="2251FF"/>
                </a:solidFill>
                <a:latin typeface="Calibri"/>
              </a:rPr>
              <a:t>–  </a:t>
            </a:r>
            <a:r>
              <a:rPr b="1" sz="1400">
                <a:solidFill>
                  <a:srgbClr val="051C2C"/>
                </a:solidFill>
                <a:latin typeface="Calibri"/>
              </a:rPr>
              <a:t>Peak stress:  </a:t>
            </a:r>
            <a:r>
              <a:rPr sz="1400">
                <a:solidFill>
                  <a:srgbClr val="051C2C"/>
                </a:solidFill>
                <a:latin typeface="Calibri"/>
              </a:rPr>
              <a:t>18:00–22:00 latency 1,541 ms vs 1,321 ms off-peak; spikes ~508/hr vs ~329/hr (+55%) — success stays flat (83.3–84.1%), so the damage is experience-level.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00">
                <a:solidFill>
                  <a:srgbClr val="2251FF"/>
                </a:solidFill>
                <a:latin typeface="Calibri"/>
              </a:rPr>
              <a:t>–  </a:t>
            </a:r>
            <a:r>
              <a:rPr b="1" sz="1400">
                <a:solidFill>
                  <a:srgbClr val="051C2C"/>
                </a:solidFill>
                <a:latin typeface="Calibri"/>
              </a:rPr>
              <a:t>Implication:  </a:t>
            </a:r>
            <a:r>
              <a:rPr sz="1400">
                <a:solidFill>
                  <a:srgbClr val="051C2C"/>
                </a:solidFill>
                <a:latin typeface="Calibri"/>
              </a:rPr>
              <a:t>the worst offenders are known, named, and concentrated — routing and SLOs, not capex, are the first move.</a:t>
            </a:r>
          </a:p>
        </p:txBody>
      </p:sp>
      <p:graphicFrame>
        <p:nvGraphicFramePr>
          <p:cNvPr id="10" name="chart-1"/>
          <p:cNvGraphicFramePr>
            <a:graphicFrameLocks noGrp="1"/>
          </p:cNvGraphicFramePr>
          <p:nvPr/>
        </p:nvGraphicFramePr>
        <p:xfrm>
          <a:off x="4547750" y="1956816"/>
          <a:ext cx="7077017" cy="3803903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body-9"/>
          <p:cNvSpPr txBox="1"/>
          <p:nvPr/>
        </p:nvSpPr>
        <p:spPr>
          <a:xfrm>
            <a:off x="4547750" y="5833871"/>
            <a:ext cx="7077017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1">
                <a:solidFill>
                  <a:srgbClr val="5B6B7B"/>
                </a:solidFill>
                <a:latin typeface="Calibri"/>
              </a:rPr>
              <a:t>Average latency (ms)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  <p:sp>
        <p:nvSpPr>
          <p:cNvPr id="4" name="kicker"/>
          <p:cNvSpPr txBox="1"/>
          <p:nvPr/>
        </p:nvSpPr>
        <p:spPr>
          <a:xfrm>
            <a:off x="566928" y="310896"/>
            <a:ext cx="110578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2251FF"/>
                </a:solidFill>
                <a:latin typeface="Calibri"/>
              </a:rPr>
              <a:t>GATEWAY DIAGNOSIS · 2</a:t>
            </a:r>
          </a:p>
        </p:txBody>
      </p:sp>
      <p:sp>
        <p:nvSpPr>
          <p:cNvPr id="5" name="action-title"/>
          <p:cNvSpPr txBox="1"/>
          <p:nvPr/>
        </p:nvSpPr>
        <p:spPr>
          <a:xfrm>
            <a:off x="566928" y="566928"/>
            <a:ext cx="1105783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051C2C"/>
                </a:solidFill>
                <a:latin typeface="Georgia"/>
              </a:rPr>
              <a:t>Nearly half of all 86,437 failures are infrastructure-side, led by bank timeouts at 45%</a:t>
            </a:r>
          </a:p>
        </p:txBody>
      </p:sp>
      <p:sp>
        <p:nvSpPr>
          <p:cNvPr id="6" name="title-rule"/>
          <p:cNvSpPr/>
          <p:nvPr/>
        </p:nvSpPr>
        <p:spPr>
          <a:xfrm>
            <a:off x="566928" y="1682495"/>
            <a:ext cx="2011680" cy="25603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ource-line"/>
          <p:cNvSpPr txBox="1"/>
          <p:nvPr/>
        </p:nvSpPr>
        <p:spPr>
          <a:xfrm>
            <a:off x="566928" y="6419088"/>
            <a:ext cx="1050919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5B6B7B"/>
                </a:solidFill>
                <a:latin typeface="Calibri"/>
              </a:rPr>
              <a:t>Source: fact_payment_transactions error codes, non-SUCCESS attempts (n=86,437).</a:t>
            </a:r>
          </a:p>
        </p:txBody>
      </p:sp>
      <p:sp>
        <p:nvSpPr>
          <p:cNvPr id="8" name="page-num"/>
          <p:cNvSpPr txBox="1"/>
          <p:nvPr/>
        </p:nvSpPr>
        <p:spPr>
          <a:xfrm>
            <a:off x="11076127" y="641908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Calibri"/>
              </a:rPr>
              <a:t>5</a:t>
            </a:r>
          </a:p>
        </p:txBody>
      </p:sp>
      <p:sp>
        <p:nvSpPr>
          <p:cNvPr id="9" name="body-1"/>
          <p:cNvSpPr txBox="1"/>
          <p:nvPr/>
        </p:nvSpPr>
        <p:spPr>
          <a:xfrm>
            <a:off x="566928" y="1956816"/>
            <a:ext cx="3538508" cy="38039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00">
                <a:solidFill>
                  <a:srgbClr val="2251FF"/>
                </a:solidFill>
                <a:latin typeface="Calibri"/>
              </a:rPr>
              <a:t>–  </a:t>
            </a:r>
            <a:r>
              <a:rPr b="1" sz="1400">
                <a:solidFill>
                  <a:srgbClr val="051C2C"/>
                </a:solidFill>
                <a:latin typeface="Calibri"/>
              </a:rPr>
              <a:t>Failure load:  </a:t>
            </a:r>
            <a:r>
              <a:rPr sz="1400">
                <a:solidFill>
                  <a:srgbClr val="051C2C"/>
                </a:solidFill>
                <a:latin typeface="Calibri"/>
              </a:rPr>
              <a:t>86,437 failed attempts = 16.31% of all attempts.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00">
                <a:solidFill>
                  <a:srgbClr val="2251FF"/>
                </a:solidFill>
                <a:latin typeface="Calibri"/>
              </a:rPr>
              <a:t>–  </a:t>
            </a:r>
            <a:r>
              <a:rPr b="1" sz="1400">
                <a:solidFill>
                  <a:srgbClr val="051C2C"/>
                </a:solidFill>
                <a:latin typeface="Calibri"/>
              </a:rPr>
              <a:t>Ownership split:  </a:t>
            </a:r>
            <a:r>
              <a:rPr sz="1400">
                <a:solidFill>
                  <a:srgbClr val="051C2C"/>
                </a:solidFill>
                <a:latin typeface="Calibri"/>
              </a:rPr>
              <a:t>upstream infrastructure (bank timeout + NPCI degraded + switch unavailable) = 48.83%; user-side (auth + funds) = 51.17%.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00">
                <a:solidFill>
                  <a:srgbClr val="2251FF"/>
                </a:solidFill>
                <a:latin typeface="Calibri"/>
              </a:rPr>
              <a:t>–  </a:t>
            </a:r>
            <a:r>
              <a:rPr b="1" sz="1400">
                <a:solidFill>
                  <a:srgbClr val="051C2C"/>
                </a:solidFill>
                <a:latin typeface="Calibri"/>
              </a:rPr>
              <a:t>Accounting note:  </a:t>
            </a:r>
            <a:r>
              <a:rPr sz="1400">
                <a:solidFill>
                  <a:srgbClr val="051C2C"/>
                </a:solidFill>
                <a:latin typeface="Calibri"/>
              </a:rPr>
              <a:t>status TIMEOUT rows (21,611) and ERR_BANK_TIMEOUT-on-FAILED rows (17,567) are distinct populations — never summed.</a:t>
            </a:r>
          </a:p>
        </p:txBody>
      </p:sp>
      <p:graphicFrame>
        <p:nvGraphicFramePr>
          <p:cNvPr id="10" name="chart-1"/>
          <p:cNvGraphicFramePr>
            <a:graphicFrameLocks noGrp="1"/>
          </p:cNvGraphicFramePr>
          <p:nvPr/>
        </p:nvGraphicFramePr>
        <p:xfrm>
          <a:off x="4547750" y="1956816"/>
          <a:ext cx="7077017" cy="3803903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body-9"/>
          <p:cNvSpPr txBox="1"/>
          <p:nvPr/>
        </p:nvSpPr>
        <p:spPr>
          <a:xfrm>
            <a:off x="4547750" y="5833871"/>
            <a:ext cx="7077017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1">
                <a:solidFill>
                  <a:srgbClr val="5B6B7B"/>
                </a:solidFill>
                <a:latin typeface="Calibri"/>
              </a:rPr>
              <a:t>Failed attempts (count)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  <p:sp>
        <p:nvSpPr>
          <p:cNvPr id="4" name="kicker"/>
          <p:cNvSpPr txBox="1"/>
          <p:nvPr/>
        </p:nvSpPr>
        <p:spPr>
          <a:xfrm>
            <a:off x="566928" y="310896"/>
            <a:ext cx="110578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2251FF"/>
                </a:solidFill>
                <a:latin typeface="Calibri"/>
              </a:rPr>
              <a:t>SETTLEMENT DIAGNOSIS</a:t>
            </a:r>
          </a:p>
        </p:txBody>
      </p:sp>
      <p:sp>
        <p:nvSpPr>
          <p:cNvPr id="5" name="action-title"/>
          <p:cNvSpPr txBox="1"/>
          <p:nvPr/>
        </p:nvSpPr>
        <p:spPr>
          <a:xfrm>
            <a:off x="566928" y="566928"/>
            <a:ext cx="1105783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051C2C"/>
                </a:solidFill>
                <a:latin typeface="Georgia"/>
              </a:rPr>
              <a:t>T+2/T+3 contracts breach at ~50% — 4× the T+0/T+1 rate — with no seasonal relief all year</a:t>
            </a:r>
          </a:p>
        </p:txBody>
      </p:sp>
      <p:sp>
        <p:nvSpPr>
          <p:cNvPr id="6" name="title-rule"/>
          <p:cNvSpPr/>
          <p:nvPr/>
        </p:nvSpPr>
        <p:spPr>
          <a:xfrm>
            <a:off x="566928" y="1682495"/>
            <a:ext cx="2011680" cy="25603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ource-line"/>
          <p:cNvSpPr txBox="1"/>
          <p:nvPr/>
        </p:nvSpPr>
        <p:spPr>
          <a:xfrm>
            <a:off x="566928" y="6419088"/>
            <a:ext cx="1050919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5B6B7B"/>
                </a:solidFill>
                <a:latin typeface="Calibri"/>
              </a:rPr>
              <a:t>Source: fact_merchant_settlements × dim_merchants — 125,000 batches, breach months 2023-07→2024-12.</a:t>
            </a:r>
          </a:p>
        </p:txBody>
      </p:sp>
      <p:sp>
        <p:nvSpPr>
          <p:cNvPr id="8" name="page-num"/>
          <p:cNvSpPr txBox="1"/>
          <p:nvPr/>
        </p:nvSpPr>
        <p:spPr>
          <a:xfrm>
            <a:off x="11076127" y="641908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Calibri"/>
              </a:rPr>
              <a:t>6</a:t>
            </a:r>
          </a:p>
        </p:txBody>
      </p:sp>
      <p:sp>
        <p:nvSpPr>
          <p:cNvPr id="9" name="body-1"/>
          <p:cNvSpPr txBox="1"/>
          <p:nvPr/>
        </p:nvSpPr>
        <p:spPr>
          <a:xfrm>
            <a:off x="566928" y="1956816"/>
            <a:ext cx="3538508" cy="38039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00">
                <a:solidFill>
                  <a:srgbClr val="2251FF"/>
                </a:solidFill>
                <a:latin typeface="Calibri"/>
              </a:rPr>
              <a:t>–  </a:t>
            </a:r>
            <a:r>
              <a:rPr b="1" sz="1400">
                <a:solidFill>
                  <a:srgbClr val="051C2C"/>
                </a:solidFill>
                <a:latin typeface="Calibri"/>
              </a:rPr>
              <a:t>Structural, not noise:  </a:t>
            </a:r>
            <a:r>
              <a:rPr sz="1400">
                <a:solidFill>
                  <a:srgbClr val="051C2C"/>
                </a:solidFill>
                <a:latin typeface="Calibri"/>
              </a:rPr>
              <a:t>long-cycle contracts breach at ~50% vs ~12% for T+0/T+1; breached batches still arrive ~1.5 days late.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00">
                <a:solidFill>
                  <a:srgbClr val="2251FF"/>
                </a:solidFill>
                <a:latin typeface="Calibri"/>
              </a:rPr>
              <a:t>–  </a:t>
            </a:r>
            <a:r>
              <a:rPr b="1" sz="1400">
                <a:solidFill>
                  <a:srgbClr val="051C2C"/>
                </a:solidFill>
                <a:latin typeface="Calibri"/>
              </a:rPr>
              <a:t>Flat through time:  </a:t>
            </a:r>
            <a:r>
              <a:rPr sz="1400">
                <a:solidFill>
                  <a:srgbClr val="051C2C"/>
                </a:solidFill>
                <a:latin typeface="Calibri"/>
              </a:rPr>
              <a:t>monthly breach rate holds 27.7–29.5% across 18 months — no seasonality, so run-rate math is legitimate.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00">
                <a:solidFill>
                  <a:srgbClr val="2251FF"/>
                </a:solidFill>
                <a:latin typeface="Calibri"/>
              </a:rPr>
              <a:t>–  </a:t>
            </a:r>
            <a:r>
              <a:rPr b="1" sz="1400">
                <a:solidFill>
                  <a:srgbClr val="051C2C"/>
                </a:solidFill>
                <a:latin typeface="Calibri"/>
              </a:rPr>
              <a:t>Platform-wide:  </a:t>
            </a:r>
            <a:r>
              <a:rPr sz="1400">
                <a:solidFill>
                  <a:srgbClr val="051C2C"/>
                </a:solidFill>
                <a:latin typeface="Calibri"/>
              </a:rPr>
              <a:t>the MCC × cycle matrix shows elevated T+2/T+3 breach in every merchant category — the batch pipeline, not a vertical, is failing.</a:t>
            </a:r>
          </a:p>
        </p:txBody>
      </p:sp>
      <p:graphicFrame>
        <p:nvGraphicFramePr>
          <p:cNvPr id="10" name="chart-1"/>
          <p:cNvGraphicFramePr>
            <a:graphicFrameLocks noGrp="1"/>
          </p:cNvGraphicFramePr>
          <p:nvPr/>
        </p:nvGraphicFramePr>
        <p:xfrm>
          <a:off x="4547750" y="1956816"/>
          <a:ext cx="7077017" cy="3803903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body-9"/>
          <p:cNvSpPr txBox="1"/>
          <p:nvPr/>
        </p:nvSpPr>
        <p:spPr>
          <a:xfrm>
            <a:off x="4547750" y="5833871"/>
            <a:ext cx="7077017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1">
                <a:solidFill>
                  <a:srgbClr val="5B6B7B"/>
                </a:solidFill>
                <a:latin typeface="Calibri"/>
              </a:rPr>
              <a:t>SLA breach rate (% of batches)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  <p:sp>
        <p:nvSpPr>
          <p:cNvPr id="4" name="kicker"/>
          <p:cNvSpPr txBox="1"/>
          <p:nvPr/>
        </p:nvSpPr>
        <p:spPr>
          <a:xfrm>
            <a:off x="566928" y="310896"/>
            <a:ext cx="110578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2251FF"/>
                </a:solidFill>
                <a:latin typeface="Calibri"/>
              </a:rPr>
              <a:t>CHURN LINKAGE</a:t>
            </a:r>
          </a:p>
        </p:txBody>
      </p:sp>
      <p:sp>
        <p:nvSpPr>
          <p:cNvPr id="5" name="action-title"/>
          <p:cNvSpPr txBox="1"/>
          <p:nvPr/>
        </p:nvSpPr>
        <p:spPr>
          <a:xfrm>
            <a:off x="566928" y="566928"/>
            <a:ext cx="1105783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051C2C"/>
                </a:solidFill>
                <a:latin typeface="Georgia"/>
              </a:rPr>
              <a:t>Above 25% breach exposure SMB churn triples to 32.7% — the save-trigger belongs at 20–25%</a:t>
            </a:r>
          </a:p>
        </p:txBody>
      </p:sp>
      <p:sp>
        <p:nvSpPr>
          <p:cNvPr id="6" name="title-rule"/>
          <p:cNvSpPr/>
          <p:nvPr/>
        </p:nvSpPr>
        <p:spPr>
          <a:xfrm>
            <a:off x="566928" y="1682495"/>
            <a:ext cx="2011680" cy="25603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ource-line"/>
          <p:cNvSpPr txBox="1"/>
          <p:nvPr/>
        </p:nvSpPr>
        <p:spPr>
          <a:xfrm>
            <a:off x="566928" y="6419088"/>
            <a:ext cx="1050919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5B6B7B"/>
                </a:solidFill>
                <a:latin typeface="Calibri"/>
              </a:rPr>
              <a:t>Source: 2,517 settled merchants × breach exposure buckets (covered vs uncovered churn: 16.09% vs 16.26% — no selection bias).</a:t>
            </a:r>
          </a:p>
        </p:txBody>
      </p:sp>
      <p:sp>
        <p:nvSpPr>
          <p:cNvPr id="8" name="page-num"/>
          <p:cNvSpPr txBox="1"/>
          <p:nvPr/>
        </p:nvSpPr>
        <p:spPr>
          <a:xfrm>
            <a:off x="11076127" y="641908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Calibri"/>
              </a:rPr>
              <a:t>7</a:t>
            </a:r>
          </a:p>
        </p:txBody>
      </p:sp>
      <p:sp>
        <p:nvSpPr>
          <p:cNvPr id="9" name="body-1"/>
          <p:cNvSpPr txBox="1"/>
          <p:nvPr/>
        </p:nvSpPr>
        <p:spPr>
          <a:xfrm>
            <a:off x="566928" y="1956816"/>
            <a:ext cx="3538508" cy="38039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00">
                <a:solidFill>
                  <a:srgbClr val="2251FF"/>
                </a:solidFill>
                <a:latin typeface="Calibri"/>
              </a:rPr>
              <a:t>–  </a:t>
            </a:r>
            <a:r>
              <a:rPr b="1" sz="1400">
                <a:solidFill>
                  <a:srgbClr val="051C2C"/>
                </a:solidFill>
                <a:latin typeface="Calibri"/>
              </a:rPr>
              <a:t>The cliff:  </a:t>
            </a:r>
            <a:r>
              <a:rPr sz="1400">
                <a:solidFill>
                  <a:srgbClr val="051C2C"/>
                </a:solidFill>
                <a:latin typeface="Calibri"/>
              </a:rPr>
              <a:t>SMB churn in the &gt;25% bucket runs 3.2× the low-breach baseline (32.66% vs 10.12%); mid-market shows the same direction (14.43%).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00">
                <a:solidFill>
                  <a:srgbClr val="2251FF"/>
                </a:solidFill>
                <a:latin typeface="Calibri"/>
              </a:rPr>
              <a:t>–  </a:t>
            </a:r>
            <a:r>
              <a:rPr b="1" sz="1400">
                <a:solidFill>
                  <a:srgbClr val="051C2C"/>
                </a:solidFill>
                <a:latin typeface="Calibri"/>
              </a:rPr>
              <a:t>Mechanism confirmed:  </a:t>
            </a:r>
            <a:r>
              <a:rPr sz="1400">
                <a:solidFill>
                  <a:srgbClr val="051C2C"/>
                </a:solidFill>
                <a:latin typeface="Calibri"/>
              </a:rPr>
              <a:t>churn is flat-to-down through moderate exposure, then inflects violently past 25% — settlement friction, not general dissatisfaction.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00">
                <a:solidFill>
                  <a:srgbClr val="2251FF"/>
                </a:solidFill>
                <a:latin typeface="Calibri"/>
              </a:rPr>
              <a:t>–  </a:t>
            </a:r>
            <a:r>
              <a:rPr b="1" sz="1400">
                <a:solidFill>
                  <a:srgbClr val="051C2C"/>
                </a:solidFill>
                <a:latin typeface="Calibri"/>
              </a:rPr>
              <a:t>Operational trigger:  </a:t>
            </a:r>
            <a:r>
              <a:rPr sz="1400">
                <a:solidFill>
                  <a:srgbClr val="051C2C"/>
                </a:solidFill>
                <a:latin typeface="Calibri"/>
              </a:rPr>
              <a:t>a rolling 30-day breach share crossing 20–25% is a warm, addressable churn signal — today nothing acts on it.</a:t>
            </a:r>
          </a:p>
        </p:txBody>
      </p:sp>
      <p:graphicFrame>
        <p:nvGraphicFramePr>
          <p:cNvPr id="10" name="chart-1"/>
          <p:cNvGraphicFramePr>
            <a:graphicFrameLocks noGrp="1"/>
          </p:cNvGraphicFramePr>
          <p:nvPr/>
        </p:nvGraphicFramePr>
        <p:xfrm>
          <a:off x="4547750" y="1956816"/>
          <a:ext cx="7077017" cy="3803903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body-9"/>
          <p:cNvSpPr txBox="1"/>
          <p:nvPr/>
        </p:nvSpPr>
        <p:spPr>
          <a:xfrm>
            <a:off x="4547750" y="5833871"/>
            <a:ext cx="7077017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1">
                <a:solidFill>
                  <a:srgbClr val="5B6B7B"/>
                </a:solidFill>
                <a:latin typeface="Calibri"/>
              </a:rPr>
              <a:t>SMB churn rate (%)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  <p:sp>
        <p:nvSpPr>
          <p:cNvPr id="4" name="kicker"/>
          <p:cNvSpPr txBox="1"/>
          <p:nvPr/>
        </p:nvSpPr>
        <p:spPr>
          <a:xfrm>
            <a:off x="566928" y="310896"/>
            <a:ext cx="110578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2251FF"/>
                </a:solidFill>
                <a:latin typeface="Calibri"/>
              </a:rPr>
              <a:t>SMART-ROUTING PERFORMANCE</a:t>
            </a:r>
          </a:p>
        </p:txBody>
      </p:sp>
      <p:sp>
        <p:nvSpPr>
          <p:cNvPr id="5" name="action-title"/>
          <p:cNvSpPr txBox="1"/>
          <p:nvPr/>
        </p:nvSpPr>
        <p:spPr>
          <a:xfrm>
            <a:off x="566928" y="566928"/>
            <a:ext cx="1105783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051C2C"/>
                </a:solidFill>
                <a:latin typeface="Georgia"/>
              </a:rPr>
              <a:t>Dynamic SLA routing already delivers +8.57 pp success (79.4% → 88.0%) and 39% lower latency — inside benchmark</a:t>
            </a:r>
          </a:p>
        </p:txBody>
      </p:sp>
      <p:sp>
        <p:nvSpPr>
          <p:cNvPr id="6" name="title-rule"/>
          <p:cNvSpPr/>
          <p:nvPr/>
        </p:nvSpPr>
        <p:spPr>
          <a:xfrm>
            <a:off x="566928" y="1682495"/>
            <a:ext cx="2011680" cy="25603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ource-line"/>
          <p:cNvSpPr txBox="1"/>
          <p:nvPr/>
        </p:nvSpPr>
        <p:spPr>
          <a:xfrm>
            <a:off x="566928" y="6419088"/>
            <a:ext cx="1050919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5B6B7B"/>
                </a:solidFill>
                <a:latin typeface="Calibri"/>
              </a:rPr>
              <a:t>Source: fact_payment_transactions A/B split on is_routed_via_dynamic_sla (n=530,000).</a:t>
            </a:r>
          </a:p>
        </p:txBody>
      </p:sp>
      <p:sp>
        <p:nvSpPr>
          <p:cNvPr id="8" name="page-num"/>
          <p:cNvSpPr txBox="1"/>
          <p:nvPr/>
        </p:nvSpPr>
        <p:spPr>
          <a:xfrm>
            <a:off x="11076127" y="641908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Calibri"/>
              </a:rPr>
              <a:t>8</a:t>
            </a:r>
          </a:p>
        </p:txBody>
      </p:sp>
      <p:sp>
        <p:nvSpPr>
          <p:cNvPr id="9" name="body-1"/>
          <p:cNvSpPr txBox="1"/>
          <p:nvPr/>
        </p:nvSpPr>
        <p:spPr>
          <a:xfrm>
            <a:off x="566928" y="1956816"/>
            <a:ext cx="3538508" cy="38039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00">
                <a:solidFill>
                  <a:srgbClr val="2251FF"/>
                </a:solidFill>
                <a:latin typeface="Calibri"/>
              </a:rPr>
              <a:t>–  </a:t>
            </a:r>
            <a:r>
              <a:rPr b="1" sz="1400">
                <a:solidFill>
                  <a:srgbClr val="051C2C"/>
                </a:solidFill>
                <a:latin typeface="Calibri"/>
              </a:rPr>
              <a:t>Benchmark verified:  </a:t>
            </a:r>
            <a:r>
              <a:rPr sz="1400">
                <a:solidFill>
                  <a:srgbClr val="051C2C"/>
                </a:solidFill>
                <a:latin typeface="Calibri"/>
              </a:rPr>
              <a:t>+8.57 pp absolute lift lands inside the accepted 8.30–8.70 band (target +8.50); stable by tier (8.21–8.74 pp) and channel (8.04–9.18 pp).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00">
                <a:solidFill>
                  <a:srgbClr val="2251FF"/>
                </a:solidFill>
                <a:latin typeface="Calibri"/>
              </a:rPr>
              <a:t>–  </a:t>
            </a:r>
            <a:r>
              <a:rPr b="1" sz="1400">
                <a:solidFill>
                  <a:srgbClr val="051C2C"/>
                </a:solidFill>
                <a:latin typeface="Calibri"/>
              </a:rPr>
              <a:t>Latency dividend:  </a:t>
            </a:r>
            <a:r>
              <a:rPr sz="1400">
                <a:solidFill>
                  <a:srgbClr val="051C2C"/>
                </a:solidFill>
                <a:latin typeface="Calibri"/>
              </a:rPr>
              <a:t>average 1,700 → 1,035 ms (−39%); p95 7,336 → 3,793 ms; ~666 ms clawed back on every degraded PSU switch.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00">
                <a:solidFill>
                  <a:srgbClr val="2251FF"/>
                </a:solidFill>
                <a:latin typeface="Calibri"/>
              </a:rPr>
              <a:t>–  </a:t>
            </a:r>
            <a:r>
              <a:rPr b="1" sz="1400">
                <a:solidFill>
                  <a:srgbClr val="051C2C"/>
                </a:solidFill>
                <a:latin typeface="Calibri"/>
              </a:rPr>
              <a:t>Headroom:  </a:t>
            </a:r>
            <a:r>
              <a:rPr sz="1400">
                <a:solidFill>
                  <a:srgbClr val="051C2C"/>
                </a:solidFill>
                <a:latin typeface="Calibri"/>
              </a:rPr>
              <a:t>264,736 attempts still ride the standard route — each carries ~8.6 pp of avoidable failure risk.</a:t>
            </a:r>
          </a:p>
        </p:txBody>
      </p:sp>
      <p:graphicFrame>
        <p:nvGraphicFramePr>
          <p:cNvPr id="10" name="chart-1"/>
          <p:cNvGraphicFramePr>
            <a:graphicFrameLocks noGrp="1"/>
          </p:cNvGraphicFramePr>
          <p:nvPr/>
        </p:nvGraphicFramePr>
        <p:xfrm>
          <a:off x="4547750" y="1956816"/>
          <a:ext cx="7077017" cy="3803903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body-9"/>
          <p:cNvSpPr txBox="1"/>
          <p:nvPr/>
        </p:nvSpPr>
        <p:spPr>
          <a:xfrm>
            <a:off x="4547750" y="5833871"/>
            <a:ext cx="7077017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1">
                <a:solidFill>
                  <a:srgbClr val="5B6B7B"/>
                </a:solidFill>
                <a:latin typeface="Calibri"/>
              </a:rPr>
              <a:t>Success rate (%)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  <p:sp>
        <p:nvSpPr>
          <p:cNvPr id="4" name="kicker"/>
          <p:cNvSpPr txBox="1"/>
          <p:nvPr/>
        </p:nvSpPr>
        <p:spPr>
          <a:xfrm>
            <a:off x="566928" y="310896"/>
            <a:ext cx="110578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2251FF"/>
                </a:solidFill>
                <a:latin typeface="Calibri"/>
              </a:rPr>
              <a:t>REVENUE ECONOMICS</a:t>
            </a:r>
          </a:p>
        </p:txBody>
      </p:sp>
      <p:sp>
        <p:nvSpPr>
          <p:cNvPr id="5" name="action-title"/>
          <p:cNvSpPr txBox="1"/>
          <p:nvPr/>
        </p:nvSpPr>
        <p:spPr>
          <a:xfrm>
            <a:off x="566928" y="566928"/>
            <a:ext cx="1105783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051C2C"/>
                </a:solidFill>
                <a:latin typeface="Georgia"/>
              </a:rPr>
              <a:t>SMB pays 65% of MDR while UPI carries 55% of volume free — and the at-risk SMB pool is ₹51.6M GMV a year</a:t>
            </a:r>
          </a:p>
        </p:txBody>
      </p:sp>
      <p:sp>
        <p:nvSpPr>
          <p:cNvPr id="6" name="title-rule"/>
          <p:cNvSpPr/>
          <p:nvPr/>
        </p:nvSpPr>
        <p:spPr>
          <a:xfrm>
            <a:off x="566928" y="1682495"/>
            <a:ext cx="2011680" cy="25603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ource-line"/>
          <p:cNvSpPr txBox="1"/>
          <p:nvPr/>
        </p:nvSpPr>
        <p:spPr>
          <a:xfrm>
            <a:off x="566928" y="6419088"/>
            <a:ext cx="1050919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5B6B7B"/>
                </a:solidFill>
                <a:latin typeface="Calibri"/>
              </a:rPr>
              <a:t>Source: fact_merchant_settlements (realized ₹2.83M / ₹217.7M GPV) × transactions × mdr_rate_pct (potential ≈ ₹4.65M).</a:t>
            </a:r>
          </a:p>
        </p:txBody>
      </p:sp>
      <p:sp>
        <p:nvSpPr>
          <p:cNvPr id="8" name="page-num"/>
          <p:cNvSpPr txBox="1"/>
          <p:nvPr/>
        </p:nvSpPr>
        <p:spPr>
          <a:xfrm>
            <a:off x="11076127" y="641908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Calibri"/>
              </a:rPr>
              <a:t>9</a:t>
            </a:r>
          </a:p>
        </p:txBody>
      </p:sp>
      <p:sp>
        <p:nvSpPr>
          <p:cNvPr id="9" name="body-1"/>
          <p:cNvSpPr txBox="1"/>
          <p:nvPr/>
        </p:nvSpPr>
        <p:spPr>
          <a:xfrm>
            <a:off x="566928" y="1956816"/>
            <a:ext cx="3538508" cy="38039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00">
                <a:solidFill>
                  <a:srgbClr val="2251FF"/>
                </a:solidFill>
                <a:latin typeface="Calibri"/>
              </a:rPr>
              <a:t>–  </a:t>
            </a:r>
            <a:r>
              <a:rPr b="1" sz="1400">
                <a:solidFill>
                  <a:srgbClr val="051C2C"/>
                </a:solidFill>
                <a:latin typeface="Calibri"/>
              </a:rPr>
              <a:t>Monetization is card-shaped:  </a:t>
            </a:r>
            <a:r>
              <a:rPr sz="1400">
                <a:solidFill>
                  <a:srgbClr val="051C2C"/>
                </a:solidFill>
                <a:latin typeface="Calibri"/>
              </a:rPr>
              <a:t>credit cards yield ≈56% of potential MDR from ~20% of successful GMV; UPI is 55% of GMV at a 0% rate.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00">
                <a:solidFill>
                  <a:srgbClr val="2251FF"/>
                </a:solidFill>
                <a:latin typeface="Calibri"/>
              </a:rPr>
              <a:t>–  </a:t>
            </a:r>
            <a:r>
              <a:rPr b="1" sz="1400">
                <a:solidFill>
                  <a:srgbClr val="051C2C"/>
                </a:solidFill>
                <a:latin typeface="Calibri"/>
              </a:rPr>
              <a:t>At-risk pool:  </a:t>
            </a:r>
            <a:r>
              <a:rPr sz="1400">
                <a:solidFill>
                  <a:srgbClr val="051C2C"/>
                </a:solidFill>
                <a:latin typeface="Calibri"/>
              </a:rPr>
              <a:t>894 SMB merchants with &gt;25% breach exposure = ₹77.4M GPV / ₹1.0M MDR over 18 months → ₹51.6M / ₹0.67M annualized.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00">
                <a:solidFill>
                  <a:srgbClr val="2251FF"/>
                </a:solidFill>
                <a:latin typeface="Calibri"/>
              </a:rPr>
              <a:t>–  </a:t>
            </a:r>
            <a:r>
              <a:rPr b="1" sz="1400">
                <a:solidFill>
                  <a:srgbClr val="051C2C"/>
                </a:solidFill>
                <a:latin typeface="Calibri"/>
              </a:rPr>
              <a:t>Protected:  </a:t>
            </a:r>
            <a:r>
              <a:rPr sz="1400">
                <a:solidFill>
                  <a:srgbClr val="051C2C"/>
                </a:solidFill>
                <a:latin typeface="Calibri"/>
              </a:rPr>
              <a:t>excess-churn model (32.66% → 10.12% baseline, ≈202 merchants) preserves ≈ ₹11.6M GMV / ₹151K MDR per year — assumptions stated in the notebook (run-rate annualization, churn reversion, no replacement credit).</a:t>
            </a:r>
          </a:p>
        </p:txBody>
      </p:sp>
      <p:graphicFrame>
        <p:nvGraphicFramePr>
          <p:cNvPr id="10" name="chart-1"/>
          <p:cNvGraphicFramePr>
            <a:graphicFrameLocks noGrp="1"/>
          </p:cNvGraphicFramePr>
          <p:nvPr/>
        </p:nvGraphicFramePr>
        <p:xfrm>
          <a:off x="4547750" y="1956816"/>
          <a:ext cx="7077017" cy="3803903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body-9"/>
          <p:cNvSpPr txBox="1"/>
          <p:nvPr/>
        </p:nvSpPr>
        <p:spPr>
          <a:xfrm>
            <a:off x="4547750" y="5833871"/>
            <a:ext cx="7077017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1">
                <a:solidFill>
                  <a:srgbClr val="5B6B7B"/>
                </a:solidFill>
                <a:latin typeface="Calibri"/>
              </a:rPr>
              <a:t>Potential MDR (₹ '000, 18 mo)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  <p:sp>
        <p:nvSpPr>
          <p:cNvPr id="4" name="kicker"/>
          <p:cNvSpPr txBox="1"/>
          <p:nvPr/>
        </p:nvSpPr>
        <p:spPr>
          <a:xfrm>
            <a:off x="566928" y="310896"/>
            <a:ext cx="110578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2251FF"/>
                </a:solidFill>
                <a:latin typeface="Calibri"/>
              </a:rPr>
              <a:t>RECOMMENDATIONS</a:t>
            </a:r>
          </a:p>
        </p:txBody>
      </p:sp>
      <p:sp>
        <p:nvSpPr>
          <p:cNvPr id="5" name="action-title"/>
          <p:cNvSpPr txBox="1"/>
          <p:nvPr/>
        </p:nvSpPr>
        <p:spPr>
          <a:xfrm>
            <a:off x="566928" y="566928"/>
            <a:ext cx="1105783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051C2C"/>
                </a:solidFill>
                <a:latin typeface="Georgia"/>
              </a:rPr>
              <a:t>Five moves, led by the T+1 guarantee and full routing rollout, protect ₹11.6M GMV a year</a:t>
            </a:r>
          </a:p>
        </p:txBody>
      </p:sp>
      <p:sp>
        <p:nvSpPr>
          <p:cNvPr id="6" name="title-rule"/>
          <p:cNvSpPr/>
          <p:nvPr/>
        </p:nvSpPr>
        <p:spPr>
          <a:xfrm>
            <a:off x="566928" y="1682495"/>
            <a:ext cx="2011680" cy="25603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ource-line"/>
          <p:cNvSpPr txBox="1"/>
          <p:nvPr/>
        </p:nvSpPr>
        <p:spPr>
          <a:xfrm>
            <a:off x="566928" y="6419088"/>
            <a:ext cx="1050919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5B6B7B"/>
                </a:solidFill>
                <a:latin typeface="Calibri"/>
              </a:rPr>
              <a:t>Impacts quantified from this analysis; assumptions documented in Group_03_Digital_Payments_Settlement_Latency_SOLUTION.ipynb (KBQ 8).</a:t>
            </a:r>
          </a:p>
        </p:txBody>
      </p:sp>
      <p:sp>
        <p:nvSpPr>
          <p:cNvPr id="8" name="page-num"/>
          <p:cNvSpPr txBox="1"/>
          <p:nvPr/>
        </p:nvSpPr>
        <p:spPr>
          <a:xfrm>
            <a:off x="11076127" y="641908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Calibri"/>
              </a:rPr>
              <a:t>10</a:t>
            </a:r>
          </a:p>
        </p:txBody>
      </p:sp>
      <p:sp>
        <p:nvSpPr>
          <p:cNvPr id="9" name="body-1"/>
          <p:cNvSpPr txBox="1"/>
          <p:nvPr/>
        </p:nvSpPr>
        <p:spPr>
          <a:xfrm>
            <a:off x="566928" y="1956816"/>
            <a:ext cx="11057839" cy="430682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00">
                <a:solidFill>
                  <a:srgbClr val="2251FF"/>
                </a:solidFill>
                <a:latin typeface="Calibri"/>
              </a:rPr>
              <a:t>–  </a:t>
            </a:r>
            <a:r>
              <a:rPr sz="1400">
                <a:solidFill>
                  <a:srgbClr val="051C2C"/>
                </a:solidFill>
                <a:latin typeface="Calibri"/>
              </a:rPr>
              <a:t>★ 1. Guarantee T+1 settlement for breach-exposed SMB (liquidity buffer; halt new SMB T+2/T+3 contracts): protects ≈ ₹11.6M GMV / ₹151K MDR per year.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00">
                <a:solidFill>
                  <a:srgbClr val="2251FF"/>
                </a:solidFill>
                <a:latin typeface="Calibri"/>
              </a:rPr>
              <a:t>–  </a:t>
            </a:r>
            <a:r>
              <a:rPr sz="1400">
                <a:solidFill>
                  <a:srgbClr val="051C2C"/>
                </a:solidFill>
                <a:latin typeface="Calibri"/>
              </a:rPr>
              <a:t>★ 2. Route 100% of traffic via Dynamic SLA; throttle evenings toward healthy rails; switch SLA scorecard with worst-3 renegotiation: ≈ 22.7k recovered transactions / 18 mo ≈ ₹36M GMV.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00">
                <a:solidFill>
                  <a:srgbClr val="2251FF"/>
                </a:solidFill>
                <a:latin typeface="Calibri"/>
              </a:rPr>
              <a:t>–  </a:t>
            </a:r>
            <a:r>
              <a:rPr sz="1400">
                <a:solidFill>
                  <a:srgbClr val="051C2C"/>
                </a:solidFill>
                <a:latin typeface="Calibri"/>
              </a:rPr>
              <a:t>★ 3. Trigger a save-desk at a 20–25% rolling breach share (fee holiday, priority settlement): ≈ ₹2.9M GMV / ₹38K MDR per year at one-quarter capture.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00">
                <a:solidFill>
                  <a:srgbClr val="2251FF"/>
                </a:solidFill>
                <a:latin typeface="Calibri"/>
              </a:rPr>
              <a:t>–  </a:t>
            </a:r>
            <a:r>
              <a:rPr sz="1400">
                <a:solidFill>
                  <a:srgbClr val="051C2C"/>
                </a:solidFill>
                <a:latin typeface="Calibri"/>
              </a:rPr>
              <a:t>4. Monetize the UPI base via value-added rails — instant-settlement SaaS at ₹1,000/mo, 10% attach on 5,455 SMB: ≈ ₹6.5M/yr, no transaction-fee change.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00">
                <a:solidFill>
                  <a:srgbClr val="2251FF"/>
                </a:solidFill>
                <a:latin typeface="Calibri"/>
              </a:rPr>
              <a:t>–  </a:t>
            </a:r>
            <a:r>
              <a:rPr sz="1400">
                <a:solidFill>
                  <a:srgbClr val="051C2C"/>
                </a:solidFill>
                <a:latin typeface="Calibri"/>
              </a:rPr>
              <a:t>5. Enforce per-switch evening SLOs (p95 &lt; 3 s, pre-scale 17:00–23:00, automated shedding): ≈ ₹0.1M GMV/month protected at peak.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00">
                <a:solidFill>
                  <a:srgbClr val="2251FF"/>
                </a:solidFill>
                <a:latin typeface="Calibri"/>
              </a:rPr>
              <a:t>–  </a:t>
            </a:r>
            <a:r>
              <a:rPr b="1" sz="1400">
                <a:solidFill>
                  <a:srgbClr val="051C2C"/>
                </a:solidFill>
                <a:latin typeface="Calibri"/>
              </a:rPr>
              <a:t>Next step:  </a:t>
            </a:r>
            <a:r>
              <a:rPr sz="1400">
                <a:solidFill>
                  <a:srgbClr val="051C2C"/>
                </a:solidFill>
                <a:latin typeface="Calibri"/>
              </a:rPr>
              <a:t>stand up the breach-exposure register from settlement data this week — every trigger in recommendations 1–3 keys off 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